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counZQsfhBmsyd4fEUnOXHM+r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3BCD19B-E8B6-45A6-A9C1-7341087EAB62}">
  <a:tblStyle styleId="{73BCD19B-E8B6-45A6-A9C1-7341087EAB6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>
      <p:cViewPr varScale="1">
        <p:scale>
          <a:sx n="103" d="100"/>
          <a:sy n="103" d="100"/>
        </p:scale>
        <p:origin x="200" y="4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457200" tIns="2743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ANNEX C — DATA REALITY CHECK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Data Availability, Authorization &amp; Technical Feasibility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Determine whether usable, authorized, and sufficiently reliable data exists before committing to an AI/ML or analytics approach.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731520" y="2560320"/>
            <a:ext cx="5242255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8287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Team Name / ID: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1E293B"/>
                </a:solidFill>
              </a:rPr>
              <a:t>e-</a:t>
            </a:r>
            <a:r>
              <a:rPr lang="en-US" dirty="0" err="1">
                <a:solidFill>
                  <a:srgbClr val="1E293B"/>
                </a:solidFill>
              </a:rPr>
              <a:t>biciro</a:t>
            </a:r>
            <a:r>
              <a:rPr lang="en-US" dirty="0">
                <a:solidFill>
                  <a:srgbClr val="1E293B"/>
                </a:solidFill>
              </a:rPr>
              <a:t>  /  Team [  4  ]</a:t>
            </a:r>
            <a:endParaRPr dirty="0"/>
          </a:p>
        </p:txBody>
      </p:sp>
      <p:sp>
        <p:nvSpPr>
          <p:cNvPr id="86" name="Google Shape;86;p1"/>
          <p:cNvSpPr/>
          <p:nvPr/>
        </p:nvSpPr>
        <p:spPr>
          <a:xfrm>
            <a:off x="6217920" y="2560320"/>
            <a:ext cx="5242255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8287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Challenge Title:</a:t>
            </a:r>
            <a:endParaRPr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solidFill>
                  <a:srgbClr val="1E293B"/>
                </a:solidFill>
              </a:rPr>
              <a:t>AI-assisted data quality &amp; intelligence platform that turns raw Rwanda  agricultural price data into trusted, decision-ready information.</a:t>
            </a:r>
            <a:endParaRPr dirty="0">
              <a:solidFill>
                <a:srgbClr val="94A3B8"/>
              </a:solidFill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31520" y="4389120"/>
            <a:ext cx="5242255" cy="1463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8287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Institution / Focal Person: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dirty="0">
                <a:solidFill>
                  <a:srgbClr val="1E293B"/>
                </a:solidFill>
              </a:rPr>
              <a:t>MINAGRI — Ministry of Agriculture and Animal Resources (challenge &amp; data owner)</a:t>
            </a:r>
            <a:endParaRPr dirty="0"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dirty="0">
                <a:solidFill>
                  <a:srgbClr val="94A3B8"/>
                </a:solidFill>
              </a:rPr>
              <a:t>Focal </a:t>
            </a:r>
            <a:r>
              <a:rPr>
                <a:solidFill>
                  <a:srgbClr val="94A3B8"/>
                </a:solidFill>
              </a:rPr>
              <a:t>person:</a:t>
            </a:r>
            <a:r>
              <a:rPr lang="en-US">
                <a:solidFill>
                  <a:srgbClr val="94A3B8"/>
                </a:solidFill>
              </a:rPr>
              <a:t> [ NAME  AND  DEPARTMENT]</a:t>
            </a:r>
            <a:endParaRPr dirty="0"/>
          </a:p>
        </p:txBody>
      </p:sp>
      <p:sp>
        <p:nvSpPr>
          <p:cNvPr id="88" name="Google Shape;88;p1"/>
          <p:cNvSpPr/>
          <p:nvPr/>
        </p:nvSpPr>
        <p:spPr>
          <a:xfrm>
            <a:off x="6388120" y="4389120"/>
            <a:ext cx="5242200" cy="1463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8287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Date &amp; Session: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E293B"/>
                </a:solidFill>
              </a:rPr>
              <a:t>1 October 2026  /  UR Unipod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Day 1 - Challenge Understanding &amp; Problem Validation Gate | Evidence trail for incubation transfer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0972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ANNEX C — DATA REALITY CHECK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C1. Data Inventory — Source &amp; Access Mapping</a:t>
            </a:r>
            <a:endParaRPr/>
          </a:p>
        </p:txBody>
      </p:sp>
      <p:graphicFrame>
        <p:nvGraphicFramePr>
          <p:cNvPr id="95" name="Google Shape;95;p2"/>
          <p:cNvGraphicFramePr/>
          <p:nvPr/>
        </p:nvGraphicFramePr>
        <p:xfrm>
          <a:off x="457200" y="1371600"/>
          <a:ext cx="11277325" cy="5029200"/>
        </p:xfrm>
        <a:graphic>
          <a:graphicData uri="http://schemas.openxmlformats.org/drawingml/2006/table">
            <a:tbl>
              <a:tblPr firstRow="1" bandRow="1">
                <a:noFill/>
                <a:tableStyleId>{73BCD19B-E8B6-45A6-A9C1-7341087EAB62}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0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Source / Dataset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Dataset Owner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Format / Location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Sensitivity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Access Status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Quality / Limitation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e-Soko daily market prices — farm gate, wholesale, retail (28 Sep 2026)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MINAGRI / e-Soko Rwanda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exports · data/esoko-farmgate, -wholesaler, -retailer.json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 prices; raw export also holds agent names, phones, emails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Available (exported snapshot)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1,096 prices, single day; only 11 of 67 markets report; no Northern Province data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e-Soko reference catalog — products, markets, provinces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MINAGRI / e-Soko Rwanda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JSON · data/esoko-product, -market, -province.json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 reference data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Available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134 products (1 archived), 67 markets in 29 districts; 7 markets' province ≠ district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Tangabid historical market prices (copy of e-Soko Rwanda)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Tangabid (third-party aggregator)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CSV, 17 MB · data/tangabid_market_prices.csv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Available (third-party download)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167,301 rows, Jan 2025 – Sep 2026, 130 products, 57 markets; no price-type column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Wide market price sheet (one column per price type)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MINAGRI / e-Soko web download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CSV · data/download.csv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Public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Available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365 real rows + 20 labelled demo-error rows; province, district and unit empty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Synthetic test file with injected errors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e-biciro team (built on e-Soko catalog)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Generated in-app (“Test file”)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Synthetic — no real records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Available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Labelled typos, extra zeros, missing prices, ladder inversions, duplicates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0972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ANNEX C — DATA REALITY CHECK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C2. Readiness Questions — Access, Governance &amp; Reliability</a:t>
            </a:r>
            <a:endParaRPr/>
          </a:p>
        </p:txBody>
      </p:sp>
      <p:graphicFrame>
        <p:nvGraphicFramePr>
          <p:cNvPr id="101" name="Google Shape;101;p3"/>
          <p:cNvGraphicFramePr/>
          <p:nvPr/>
        </p:nvGraphicFramePr>
        <p:xfrm>
          <a:off x="457200" y="1371600"/>
          <a:ext cx="11277300" cy="5029250"/>
        </p:xfrm>
        <a:graphic>
          <a:graphicData uri="http://schemas.openxmlformats.org/drawingml/2006/table">
            <a:tbl>
              <a:tblPr firstRow="1" bandRow="1">
                <a:noFill/>
                <a:tableStyleId>{73BCD19B-E8B6-45A6-A9C1-7341087EAB62}</a:tableStyleId>
              </a:tblPr>
              <a:tblGrid>
                <a:gridCol w="384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Readiness Question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/ No / N/A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/ Comment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 / Owner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the data owner identified?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MINAGRI owns e-Soko and its catalog; Tangabid is a third-party copy of e-Soko Rwanda prices.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 the MINAGRI e-Soko data steward — Team lead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the intended use authorized?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Partly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Prices are publicly published by e-Soko. No MOU or data-sharing agreement yet for live API access.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 written authorization / MOU — Team lead + MINAGRI focal person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the data accessible within the hackathon/incubation timeframe?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Snapshot and catalog already exported and bundled in the prototype; 167k-row history downloaded.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Agree a live e-Soko API feed for incubation — Tech lead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the data sufficiently complete and reliable for the proposed use?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Partly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Single day; 11 of 67 markets report; Northern Province missing. Baseline run flags 66 of 1,096 prices (6%).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multi-month history; gaps are reported, never filled as zero — Data lead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0972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ANNEX C — DATA REALITY CHECK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C2. Readiness Questions — Privacy, AI Justification &amp; Baseline</a:t>
            </a:r>
            <a:endParaRPr/>
          </a:p>
        </p:txBody>
      </p:sp>
      <p:graphicFrame>
        <p:nvGraphicFramePr>
          <p:cNvPr id="107" name="Google Shape;107;p4"/>
          <p:cNvGraphicFramePr/>
          <p:nvPr/>
        </p:nvGraphicFramePr>
        <p:xfrm>
          <a:off x="457200" y="1371600"/>
          <a:ext cx="11277300" cy="5029200"/>
        </p:xfrm>
        <a:graphic>
          <a:graphicData uri="http://schemas.openxmlformats.org/drawingml/2006/table">
            <a:tbl>
              <a:tblPr firstRow="1" bandRow="1">
                <a:noFill/>
                <a:tableStyleId>{73BCD19B-E8B6-45A6-A9C1-7341087EAB62}</a:tableStyleId>
              </a:tblPr>
              <a:tblGrid>
                <a:gridCol w="384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Key Readiness Question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 / No / N/A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Evidence / Comment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Action / Owner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Does the data contain personal, confidential or sensitive information?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Prices are not personal, but raw e-Soko exports include agent names, phone numbers and emails.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 fields dropped on upload; remove raw exports from the repo — Tech lead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Are privacy, retention and handling restrictions known?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Partly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 retention policy agreed yet. Prototype keeps uploads in browser storage and never overwrites raw data.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Agree retention and hosting rules with MINAGRI ICT — Team lead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representative/synthetic data be used if real data is unavailable?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In-app generator builds labelled error files on the real catalog; train.py plants 320 known errors.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Maintain generator and test set — ML lead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there enough data to justify AI/ML, if AI/ML is proposed?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1,096 rows fit an Isolation Forest (256-row samples); matching tested on 1,640 names. Not enough for seasonality.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Retrain on 2025–26 history for seasonal patterns — ML lead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Can the solution be evaluated against a baseline?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 recall: z-score alone 54.1%, Isolation Forest 72.2%, hybrid 95.6%; 5.8% false alarms; 0 wrong name auto-matches.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strike="noStrike" cap="none">
                          <a:solidFill>
                            <a:srgbClr val="1E293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Pilot: compare officer review time vs manual checks — Evaluation owner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457200" y="365760"/>
            <a:ext cx="11277295" cy="8686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109725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ANNEX C — DATA REALITY CHECK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C3. Data Decision &amp; Strategic Action Plan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57200" y="1371600"/>
            <a:ext cx="356616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2743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1. DATA ROUTE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 Select One Primary Route ]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Real Approved Data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[ X ] Representative Data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public e-Soko export (28 Sep 2026) + 2025–26 history, pending formal approval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Synthetic Data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Used only to test detection (labelled injected errors)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Mock API</a:t>
            </a:r>
            <a:endParaRPr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No Viable Data Route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297680" y="1371600"/>
            <a:ext cx="3566160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2743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2. AI SUITABILITY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[ X ] AI/ML Justified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Hybrid: rules + robust statistics + Isolation Forest + multilingual name matching. Catches 95.6% of planted errors vs 54.1% for statistics alone.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Non-AI Approach Preferred</a:t>
            </a:r>
            <a:endParaRPr/>
          </a:p>
          <a:p>
            <a:pPr marL="0" marR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More Evidence Required</a:t>
            </a:r>
            <a:endParaRPr/>
          </a:p>
          <a:p>
            <a:pPr marL="0" marR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CRITICAL BLOCKER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None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[ X ] Access / Governance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MOU or live e-Soko API access yet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Quality / Volume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Privacy / Security</a:t>
            </a:r>
            <a:endParaRPr/>
          </a:p>
          <a:p>
            <a:pPr marL="0" marR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Ownership / Infrastructure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8138160" y="1371600"/>
            <a:ext cx="3596335" cy="502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274300" tIns="2743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0D9488"/>
                </a:solidFill>
                <a:latin typeface="Arial"/>
                <a:ea typeface="Arial"/>
                <a:cs typeface="Arial"/>
                <a:sym typeface="Arial"/>
              </a:rPr>
              <a:t>3. NEXT ACTION &amp; OWNER</a:t>
            </a:r>
            <a:endParaRPr dirty="0"/>
          </a:p>
          <a:p>
            <a:pPr marL="0" marR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Immediate Next Actions: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Request MINAGRI authorization (MOU) and live e-Soko API access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Load multi-month price history and retrain for seasonal patterns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Remove agent personal data from raw exports; pilot with MINAGRI officers</a:t>
            </a:r>
            <a:endParaRPr dirty="0"/>
          </a:p>
          <a:p>
            <a:pPr marL="0" marR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Assigned Owner / Focal Point: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MINAGRI: [ Focal person name &amp; department ]</a:t>
            </a:r>
            <a:r>
              <a:rPr dirty="0"/>
              <a:t> </a:t>
            </a:r>
            <a:r>
              <a:rPr lang="en-US" sz="1100" b="1" i="0" u="none" strike="noStrike" cap="none" dirty="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Sign-off Status: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Approved to proceed to Incubator</a:t>
            </a:r>
            <a:endParaRPr dirty="0"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  ] Escalation required before proceed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1076</Words>
  <Application>Microsoft Macintosh PowerPoint</Application>
  <PresentationFormat>Widescreen</PresentationFormat>
  <Paragraphs>131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Edison Uwihanganye</cp:lastModifiedBy>
  <cp:revision>1</cp:revision>
  <dcterms:created xsi:type="dcterms:W3CDTF">2013-01-27T09:14:16Z</dcterms:created>
  <dcterms:modified xsi:type="dcterms:W3CDTF">2026-10-01T08:34:04Z</dcterms:modified>
</cp:coreProperties>
</file>