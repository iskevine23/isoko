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8"/>
    <p:sldId id="261" r:id="rId9"/>
    <p:sldId id="271" r:id="rId32"/>
    <p:sldId id="265" r:id="rId13"/>
    <p:sldId id="266" r:id="rId14"/>
    <p:sldId id="269" r:id="rId17"/>
    <p:sldId id="270" r:id="rId18"/>
  </p:sldIdLst>
  <p:sldSz cx="9144000" cy="5143500"/>
  <p:notesSz cx="5143500" cy="9144000"/>
  <p:embeddedFontLst>
    <p:embeddedFont>
      <p:font typeface="Calibri" panose="020F0502020204030204"/>
      <p:regular r:id="rId22"/>
      <p:bold r:id="rId23"/>
      <p:italic r:id="rId24"/>
      <p:boldItalic r:id="rId25"/>
    </p:embeddedFont>
    <p:embeddedFont>
      <p:font typeface="Cambria" panose="02040503050406030204"/>
      <p:regular r:id="rId26"/>
      <p:bold r:id="rId27"/>
      <p:italic r:id="rId28"/>
      <p:boldItalic r:id="rId29"/>
    </p:embeddedFont>
    <p:embeddedFont>
      <p:font typeface="Inter" panose="02000503000000020004"/>
      <p:bold r:id="rId30"/>
      <p: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3295029-3D4F-4232-8B4D-4382A95926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" Type="http://schemas.openxmlformats.org/officeDocument/2006/relationships/slideMaster" Target="slideMasters/slideMaster1.xml"/>  <Relationship Id="rId32" Type="http://schemas.openxmlformats.org/officeDocument/2006/relationships/slide" Target="slides/slide16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14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Google Shape;41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" name="Google Shape;69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5" name="Google Shape;315;p1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4" name="Google Shape;354;p1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1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8" name="Google Shape;458;p1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1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3" name="Google Shape;483;p1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hyperlink" Target="https://e-biciro.codewithedison.com/" TargetMode="Externa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48640" y="548640"/>
            <a:ext cx="1952244" cy="246888"/>
          </a:xfrm>
          <a:prstGeom prst="roundRect">
            <a:avLst>
              <a:gd name="adj" fmla="val 48148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Google Shape;17;p1"/>
          <p:cNvSpPr txBox="1"/>
          <p:nvPr/>
        </p:nvSpPr>
        <p:spPr>
          <a:xfrm>
            <a:off x="548640" y="548640"/>
            <a:ext cx="1952244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MINAGRI CHALLENGE #14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548603" y="3089945"/>
            <a:ext cx="4206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6D8"/>
              </a:buClr>
              <a:buSzPts val="2400"/>
              <a:buFont typeface="Cambria" panose="02040503050406030204"/>
              <a:buNone/>
            </a:pPr>
            <a:r>
              <a:rPr lang="en-US" sz="1700" b="0" i="0" u="none" strike="noStrike" cap="none">
                <a:solidFill>
                  <a:srgbClr val="CFE6D8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From Fragmented Data to Trusted Decisions</a:t>
            </a:r>
            <a:endParaRPr sz="1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48640" y="416052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C4AE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9FC4A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AI-assisted validation and </a:t>
            </a:r>
            <a:r>
              <a:rPr lang="en-US" sz="1200">
                <a:solidFill>
                  <a:srgbClr val="9FC4A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sync </a:t>
            </a:r>
            <a:r>
              <a:rPr lang="en-US" sz="1200" b="0" i="0" u="none" strike="noStrike" cap="none">
                <a:solidFill>
                  <a:srgbClr val="9FC4A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of agricultural commodity-price data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937760" y="868680"/>
            <a:ext cx="3566160" cy="3391418"/>
          </a:xfrm>
          <a:custGeom>
            <a:avLst/>
            <a:gdLst/>
            <a:ahLst/>
            <a:cxnLst/>
            <a:rect l="l" t="t" r="r" b="b"/>
            <a:pathLst>
              <a:path w="3566160" h="3391418" extrusionOk="0">
                <a:moveTo>
                  <a:pt x="1060210" y="635891"/>
                </a:moveTo>
                <a:lnTo>
                  <a:pt x="1580676" y="578083"/>
                </a:lnTo>
                <a:lnTo>
                  <a:pt x="2255355" y="173425"/>
                </a:lnTo>
                <a:lnTo>
                  <a:pt x="2775822" y="0"/>
                </a:lnTo>
                <a:lnTo>
                  <a:pt x="3257735" y="558813"/>
                </a:lnTo>
                <a:lnTo>
                  <a:pt x="3508330" y="1002010"/>
                </a:lnTo>
                <a:lnTo>
                  <a:pt x="3315565" y="1714979"/>
                </a:lnTo>
                <a:lnTo>
                  <a:pt x="3566160" y="2389408"/>
                </a:lnTo>
                <a:lnTo>
                  <a:pt x="2930034" y="2620641"/>
                </a:lnTo>
                <a:lnTo>
                  <a:pt x="2448121" y="2582102"/>
                </a:lnTo>
                <a:lnTo>
                  <a:pt x="1966207" y="2871144"/>
                </a:lnTo>
                <a:lnTo>
                  <a:pt x="1580676" y="3314340"/>
                </a:lnTo>
                <a:lnTo>
                  <a:pt x="713232" y="3391418"/>
                </a:lnTo>
                <a:lnTo>
                  <a:pt x="38553" y="3160185"/>
                </a:lnTo>
                <a:lnTo>
                  <a:pt x="327701" y="2485755"/>
                </a:lnTo>
                <a:lnTo>
                  <a:pt x="0" y="1811326"/>
                </a:lnTo>
                <a:lnTo>
                  <a:pt x="424084" y="1194704"/>
                </a:lnTo>
                <a:lnTo>
                  <a:pt x="616849" y="847855"/>
                </a:lnTo>
                <a:close/>
              </a:path>
            </a:pathLst>
          </a:custGeom>
          <a:solidFill>
            <a:srgbClr val="1D5C45"/>
          </a:solidFill>
          <a:ln w="19050" cap="flat" cmpd="sng">
            <a:solidFill>
              <a:srgbClr val="6FBF8F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21" name="Google Shape;21;p1"/>
          <p:cNvCxnSpPr/>
          <p:nvPr/>
        </p:nvCxnSpPr>
        <p:spPr>
          <a:xfrm>
            <a:off x="6094352" y="1716535"/>
            <a:ext cx="828891" cy="867124"/>
          </a:xfrm>
          <a:prstGeom prst="straightConnector1">
            <a:avLst/>
          </a:prstGeom>
          <a:noFill/>
          <a:ln w="12700" cap="flat" cmpd="sng">
            <a:solidFill>
              <a:srgbClr val="6FBF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"/>
          <p:cNvCxnSpPr/>
          <p:nvPr/>
        </p:nvCxnSpPr>
        <p:spPr>
          <a:xfrm rot="10800000" flipH="1">
            <a:off x="6306394" y="2583659"/>
            <a:ext cx="616849" cy="1252512"/>
          </a:xfrm>
          <a:prstGeom prst="straightConnector1">
            <a:avLst/>
          </a:prstGeom>
          <a:noFill/>
          <a:ln w="12700" cap="flat" cmpd="sng">
            <a:solidFill>
              <a:srgbClr val="6FBF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"/>
          <p:cNvCxnSpPr/>
          <p:nvPr/>
        </p:nvCxnSpPr>
        <p:spPr>
          <a:xfrm>
            <a:off x="5554609" y="2101923"/>
            <a:ext cx="1368634" cy="481736"/>
          </a:xfrm>
          <a:prstGeom prst="straightConnector1">
            <a:avLst/>
          </a:prstGeom>
          <a:noFill/>
          <a:ln w="12700" cap="flat" cmpd="sng">
            <a:solidFill>
              <a:srgbClr val="6FBF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1"/>
          <p:cNvCxnSpPr/>
          <p:nvPr/>
        </p:nvCxnSpPr>
        <p:spPr>
          <a:xfrm rot="10800000" flipH="1">
            <a:off x="6923244" y="1331146"/>
            <a:ext cx="520467" cy="1252512"/>
          </a:xfrm>
          <a:prstGeom prst="straightConnector1">
            <a:avLst/>
          </a:prstGeom>
          <a:noFill/>
          <a:ln w="12700" cap="flat" cmpd="sng">
            <a:solidFill>
              <a:srgbClr val="6FBF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25;p1"/>
          <p:cNvCxnSpPr/>
          <p:nvPr/>
        </p:nvCxnSpPr>
        <p:spPr>
          <a:xfrm>
            <a:off x="6923244" y="2583659"/>
            <a:ext cx="1233699" cy="578083"/>
          </a:xfrm>
          <a:prstGeom prst="straightConnector1">
            <a:avLst/>
          </a:prstGeom>
          <a:noFill/>
          <a:ln w="12700" cap="flat" cmpd="sng">
            <a:solidFill>
              <a:srgbClr val="6FBF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" name="Google Shape;26;p1"/>
          <p:cNvCxnSpPr/>
          <p:nvPr/>
        </p:nvCxnSpPr>
        <p:spPr>
          <a:xfrm rot="10800000" flipH="1">
            <a:off x="5612439" y="2583659"/>
            <a:ext cx="1310805" cy="385388"/>
          </a:xfrm>
          <a:prstGeom prst="straightConnector1">
            <a:avLst/>
          </a:prstGeom>
          <a:noFill/>
          <a:ln w="12700" cap="flat" cmpd="sng">
            <a:solidFill>
              <a:srgbClr val="6FBF8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27;p1"/>
          <p:cNvCxnSpPr/>
          <p:nvPr/>
        </p:nvCxnSpPr>
        <p:spPr>
          <a:xfrm rot="10800000" flipH="1">
            <a:off x="5169078" y="2583659"/>
            <a:ext cx="1754165" cy="963471"/>
          </a:xfrm>
          <a:prstGeom prst="straightConnector1">
            <a:avLst/>
          </a:prstGeom>
          <a:noFill/>
          <a:ln w="12700" cap="flat" cmpd="sng">
            <a:solidFill>
              <a:srgbClr val="6FBF8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1"/>
          <p:cNvSpPr/>
          <p:nvPr/>
        </p:nvSpPr>
        <p:spPr>
          <a:xfrm>
            <a:off x="6030344" y="1652527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1"/>
          <p:cNvSpPr/>
          <p:nvPr/>
        </p:nvSpPr>
        <p:spPr>
          <a:xfrm>
            <a:off x="6804372" y="2464787"/>
            <a:ext cx="237744" cy="237744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1"/>
          <p:cNvSpPr/>
          <p:nvPr/>
        </p:nvSpPr>
        <p:spPr>
          <a:xfrm>
            <a:off x="6242386" y="3772163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Google Shape;31;p1"/>
          <p:cNvSpPr/>
          <p:nvPr/>
        </p:nvSpPr>
        <p:spPr>
          <a:xfrm>
            <a:off x="5490601" y="2037915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" name="Google Shape;32;p1"/>
          <p:cNvSpPr/>
          <p:nvPr/>
        </p:nvSpPr>
        <p:spPr>
          <a:xfrm>
            <a:off x="7379702" y="1267138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1"/>
          <p:cNvSpPr/>
          <p:nvPr/>
        </p:nvSpPr>
        <p:spPr>
          <a:xfrm>
            <a:off x="8092934" y="3097733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1"/>
          <p:cNvSpPr/>
          <p:nvPr/>
        </p:nvSpPr>
        <p:spPr>
          <a:xfrm>
            <a:off x="5548431" y="2905039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" name="Google Shape;35;p1"/>
          <p:cNvSpPr/>
          <p:nvPr/>
        </p:nvSpPr>
        <p:spPr>
          <a:xfrm>
            <a:off x="5105070" y="348312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" name="Google Shape;36;p1"/>
          <p:cNvSpPr txBox="1"/>
          <p:nvPr/>
        </p:nvSpPr>
        <p:spPr>
          <a:xfrm>
            <a:off x="4937760" y="44348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C4AE"/>
              </a:buClr>
              <a:buSzPts val="1100"/>
              <a:buFont typeface="Calibri" panose="020F0502020204030204"/>
              <a:buNone/>
            </a:pPr>
            <a:r>
              <a:rPr lang="en-US" sz="1100" b="0" i="0" u="none" strike="noStrike" cap="none">
                <a:solidFill>
                  <a:srgbClr val="9FC4A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Cooperatives  ·  Markets  ·  Districts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7" name="Google Shape;37;p1" title="e-biciro-logo-revers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54900" y="1348141"/>
            <a:ext cx="4097577" cy="125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457200" y="292608"/>
            <a:ext cx="1019556" cy="246888"/>
          </a:xfrm>
          <a:prstGeom prst="roundRect">
            <a:avLst>
              <a:gd name="adj" fmla="val 48148"/>
            </a:avLst>
          </a:prstGeom>
          <a:solidFill>
            <a:srgbClr val="E3F3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" name="Google Shape;44;p2"/>
          <p:cNvSpPr txBox="1"/>
          <p:nvPr/>
        </p:nvSpPr>
        <p:spPr>
          <a:xfrm>
            <a:off x="457200" y="292608"/>
            <a:ext cx="101955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0F3D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STORY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457200" y="629005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One Number Can Change the Story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141732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2"/>
          <p:cNvSpPr txBox="1"/>
          <p:nvPr/>
        </p:nvSpPr>
        <p:spPr>
          <a:xfrm>
            <a:off x="685800" y="16002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000"/>
              <a:buFont typeface="Calibri" panose="020F0502020204030204"/>
              <a:buNone/>
            </a:pPr>
            <a:r>
              <a:rPr lang="en-US" sz="1000" b="1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SOURCE A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685800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Beans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685800" y="219456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4000"/>
              <a:buFont typeface="Cambria" panose="02040503050406030204"/>
              <a:buNone/>
            </a:pPr>
            <a:r>
              <a:rPr lang="en-US" sz="40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1,200</a:t>
            </a:r>
            <a:endParaRPr sz="4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685800" y="29260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300"/>
              <a:buFont typeface="Calibri" panose="020F0502020204030204"/>
              <a:buNone/>
            </a:pPr>
            <a:r>
              <a:rPr lang="en-US" sz="130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RWF/kg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291840" y="141732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" name="Google Shape;52;p2"/>
          <p:cNvSpPr txBox="1"/>
          <p:nvPr/>
        </p:nvSpPr>
        <p:spPr>
          <a:xfrm>
            <a:off x="3520440" y="16002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000"/>
              <a:buFont typeface="Calibri" panose="020F0502020204030204"/>
              <a:buNone/>
            </a:pPr>
            <a:r>
              <a:rPr lang="en-US" sz="1000" b="1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SOURCE B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3520440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Beans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3520440" y="219456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4000"/>
              <a:buFont typeface="Cambria" panose="02040503050406030204"/>
              <a:buNone/>
            </a:pPr>
            <a:r>
              <a:rPr lang="en-US" sz="40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1,250</a:t>
            </a:r>
            <a:endParaRPr sz="4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3520440" y="29260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300"/>
              <a:buFont typeface="Calibri" panose="020F0502020204030204"/>
              <a:buNone/>
            </a:pPr>
            <a:r>
              <a:rPr lang="en-US" sz="130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RWF/kg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126480" y="141732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BE9E9"/>
          </a:solidFill>
          <a:ln w="25400" cap="flat" cmpd="sng">
            <a:solidFill>
              <a:srgbClr val="D64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" name="Google Shape;57;p2"/>
          <p:cNvSpPr txBox="1"/>
          <p:nvPr/>
        </p:nvSpPr>
        <p:spPr>
          <a:xfrm>
            <a:off x="6355080" y="16002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000"/>
              <a:buFont typeface="Calibri" panose="020F0502020204030204"/>
              <a:buNone/>
            </a:pPr>
            <a:r>
              <a:rPr lang="en-US" sz="1000" b="1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SOURCE C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6355080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Beans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6355080" y="219456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4000"/>
              <a:buFont typeface="Cambria" panose="02040503050406030204"/>
              <a:buNone/>
            </a:pPr>
            <a:r>
              <a:rPr lang="en-US" sz="4000" b="1" i="0" u="none" strike="noStrike" cap="none">
                <a:solidFill>
                  <a:srgbClr val="D64545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12,500</a:t>
            </a:r>
            <a:endParaRPr sz="4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6355080" y="29260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300"/>
              <a:buFont typeface="Calibri" panose="020F0502020204030204"/>
              <a:buNone/>
            </a:pPr>
            <a:r>
              <a:rPr lang="en-US" sz="130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RWF/kg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543800" y="1581912"/>
            <a:ext cx="1097280" cy="246888"/>
          </a:xfrm>
          <a:prstGeom prst="roundRect">
            <a:avLst>
              <a:gd name="adj" fmla="val 48148"/>
            </a:avLst>
          </a:prstGeom>
          <a:solidFill>
            <a:srgbClr val="D6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" name="Google Shape;62;p2"/>
          <p:cNvSpPr txBox="1"/>
          <p:nvPr/>
        </p:nvSpPr>
        <p:spPr>
          <a:xfrm>
            <a:off x="7543800" y="1581912"/>
            <a:ext cx="10972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SUSPICIOUS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12202B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Which one should MINAGRI trust?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457200" y="45262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000"/>
              <a:buFont typeface="Calibri" panose="020F0502020204030204"/>
              <a:buNone/>
            </a:pPr>
            <a:r>
              <a:rPr lang="en-US" sz="1000" b="0" i="1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Sample data for illustration only.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5" name="Google Shape;65;p2" title="e-biciro-icon-dark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183878" y="83450"/>
            <a:ext cx="826749" cy="82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457200" y="292608"/>
            <a:ext cx="1175004" cy="246888"/>
          </a:xfrm>
          <a:prstGeom prst="roundRect">
            <a:avLst>
              <a:gd name="adj" fmla="val 48148"/>
            </a:avLst>
          </a:prstGeom>
          <a:solidFill>
            <a:srgbClr val="E3F3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3"/>
          <p:cNvSpPr txBox="1"/>
          <p:nvPr/>
        </p:nvSpPr>
        <p:spPr>
          <a:xfrm>
            <a:off x="457200" y="292608"/>
            <a:ext cx="1175004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0F3D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PROBLEM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2600"/>
              <a:buFont typeface="Cambria" panose="02040503050406030204"/>
              <a:buNone/>
            </a:pPr>
            <a:r>
              <a:rPr lang="en-US" sz="26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Agricultural Data Comes From Everywhere</a:t>
            </a:r>
            <a:endParaRPr sz="2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7200" y="141732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" name="Google Shape;75;p3"/>
          <p:cNvSpPr txBox="1"/>
          <p:nvPr/>
        </p:nvSpPr>
        <p:spPr>
          <a:xfrm>
            <a:off x="640080" y="141732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400"/>
              <a:buFont typeface="Calibri" panose="020F0502020204030204"/>
              <a:buNone/>
            </a:pPr>
            <a:r>
              <a:rPr lang="en-US" sz="140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Cooperatives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57200" y="2130552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3"/>
          <p:cNvSpPr txBox="1"/>
          <p:nvPr/>
        </p:nvSpPr>
        <p:spPr>
          <a:xfrm>
            <a:off x="640080" y="2130552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400"/>
              <a:buFont typeface="Calibri" panose="020F0502020204030204"/>
              <a:buNone/>
            </a:pPr>
            <a:r>
              <a:rPr lang="en-US" sz="140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Markets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57200" y="2843784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3"/>
          <p:cNvSpPr txBox="1"/>
          <p:nvPr/>
        </p:nvSpPr>
        <p:spPr>
          <a:xfrm>
            <a:off x="640080" y="2843784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400"/>
              <a:buFont typeface="Calibri" panose="020F0502020204030204"/>
              <a:buNone/>
            </a:pPr>
            <a:r>
              <a:rPr lang="en-US" sz="140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District Reports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3557016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" name="Google Shape;81;p3"/>
          <p:cNvSpPr txBox="1"/>
          <p:nvPr/>
        </p:nvSpPr>
        <p:spPr>
          <a:xfrm>
            <a:off x="640080" y="3557016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400"/>
              <a:buFont typeface="Calibri" panose="020F0502020204030204"/>
              <a:buNone/>
            </a:pPr>
            <a:r>
              <a:rPr lang="en-US" sz="140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Commodity Databases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788920" y="2606040"/>
            <a:ext cx="201168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" name="Google Shape;83;p3"/>
          <p:cNvSpPr/>
          <p:nvPr/>
        </p:nvSpPr>
        <p:spPr>
          <a:xfrm>
            <a:off x="3108960" y="1737360"/>
            <a:ext cx="1371600" cy="2331720"/>
          </a:xfrm>
          <a:prstGeom prst="roundRect">
            <a:avLst>
              <a:gd name="adj" fmla="val 6667"/>
            </a:avLst>
          </a:prstGeom>
          <a:solidFill>
            <a:srgbClr val="0F3D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" name="Google Shape;84;p3"/>
          <p:cNvSpPr txBox="1"/>
          <p:nvPr/>
        </p:nvSpPr>
        <p:spPr>
          <a:xfrm>
            <a:off x="3108960" y="1737360"/>
            <a:ext cx="1371600" cy="23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 panose="02040503050406030204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MINAGRI</a:t>
            </a:r>
            <a:endParaRPr sz="1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617720" y="2606040"/>
            <a:ext cx="201168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3"/>
          <p:cNvSpPr/>
          <p:nvPr/>
        </p:nvSpPr>
        <p:spPr>
          <a:xfrm>
            <a:off x="4983480" y="141732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DF3DC"/>
          </a:solidFill>
          <a:ln w="12700" cap="flat" cmpd="sng">
            <a:solidFill>
              <a:srgbClr val="F0D2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3"/>
          <p:cNvSpPr txBox="1"/>
          <p:nvPr/>
        </p:nvSpPr>
        <p:spPr>
          <a:xfrm>
            <a:off x="5074920" y="141732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300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7A5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Duplicates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858000" y="141732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DF3DC"/>
          </a:solidFill>
          <a:ln w="12700" cap="flat" cmpd="sng">
            <a:solidFill>
              <a:srgbClr val="F0D2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3"/>
          <p:cNvSpPr txBox="1"/>
          <p:nvPr/>
        </p:nvSpPr>
        <p:spPr>
          <a:xfrm>
            <a:off x="6949440" y="141732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300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7A5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Conflicts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983480" y="2313432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DF3DC"/>
          </a:solidFill>
          <a:ln w="12700" cap="flat" cmpd="sng">
            <a:solidFill>
              <a:srgbClr val="F0D2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3"/>
          <p:cNvSpPr txBox="1"/>
          <p:nvPr/>
        </p:nvSpPr>
        <p:spPr>
          <a:xfrm>
            <a:off x="5074920" y="2313432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300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7A5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Inconsistent Formats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858000" y="2313432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DF3DC"/>
          </a:solidFill>
          <a:ln w="12700" cap="flat" cmpd="sng">
            <a:solidFill>
              <a:srgbClr val="F0D2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3"/>
          <p:cNvSpPr txBox="1"/>
          <p:nvPr/>
        </p:nvSpPr>
        <p:spPr>
          <a:xfrm>
            <a:off x="6949440" y="2313432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300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7A5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Missing Data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983480" y="3209544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DF3DC"/>
          </a:solidFill>
          <a:ln w="12700" cap="flat" cmpd="sng">
            <a:solidFill>
              <a:srgbClr val="F0D2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3"/>
          <p:cNvSpPr txBox="1"/>
          <p:nvPr/>
        </p:nvSpPr>
        <p:spPr>
          <a:xfrm>
            <a:off x="5074920" y="3209544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300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7A5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Anomalies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858000" y="3209544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DF3DC"/>
          </a:solidFill>
          <a:ln w="12700" cap="flat" cmpd="sng">
            <a:solidFill>
              <a:srgbClr val="F0D2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3"/>
          <p:cNvSpPr txBox="1"/>
          <p:nvPr/>
        </p:nvSpPr>
        <p:spPr>
          <a:xfrm>
            <a:off x="6949440" y="3209544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5300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7A5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Manual Validation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8" name="Google Shape;98;p3" title="e-biciro-icon-dark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183878" y="83450"/>
            <a:ext cx="826749" cy="82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457200" y="292608"/>
            <a:ext cx="1252728" cy="246888"/>
          </a:xfrm>
          <a:prstGeom prst="roundRect">
            <a:avLst>
              <a:gd name="adj" fmla="val 48148"/>
            </a:avLst>
          </a:prstGeom>
          <a:solidFill>
            <a:srgbClr val="E3F3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5"/>
          <p:cNvSpPr txBox="1"/>
          <p:nvPr/>
        </p:nvSpPr>
        <p:spPr>
          <a:xfrm>
            <a:off x="457200" y="292608"/>
            <a:ext cx="1252728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0F3D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AI-Assisted Data Validation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500"/>
              <a:buFont typeface="Calibri" panose="020F0502020204030204"/>
              <a:buNone/>
            </a:pPr>
            <a:r>
              <a:rPr lang="en-US" sz="1500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e-biciro</a:t>
            </a:r>
            <a:r>
              <a:rPr lang="en-US" sz="150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turns fragmented submissions into trusted agricultural data.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11480" y="1783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5B6B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" name="Google Shape;137;p5"/>
          <p:cNvSpPr txBox="1"/>
          <p:nvPr/>
        </p:nvSpPr>
        <p:spPr>
          <a:xfrm>
            <a:off x="457200" y="178308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 panose="020F0502020204030204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Multiple Data Sources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600200" y="2066544"/>
            <a:ext cx="201168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5"/>
          <p:cNvSpPr/>
          <p:nvPr/>
        </p:nvSpPr>
        <p:spPr>
          <a:xfrm>
            <a:off x="1819656" y="1783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0F3D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5"/>
          <p:cNvSpPr txBox="1"/>
          <p:nvPr/>
        </p:nvSpPr>
        <p:spPr>
          <a:xfrm>
            <a:off x="1865376" y="178308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 panose="020F0502020204030204"/>
              <a:buNone/>
            </a:pPr>
            <a:r>
              <a:rPr lang="en-US" sz="11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e-biciro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008376" y="2066544"/>
            <a:ext cx="201168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5"/>
          <p:cNvSpPr/>
          <p:nvPr/>
        </p:nvSpPr>
        <p:spPr>
          <a:xfrm>
            <a:off x="3227832" y="1783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D5C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5"/>
          <p:cNvSpPr txBox="1"/>
          <p:nvPr/>
        </p:nvSpPr>
        <p:spPr>
          <a:xfrm>
            <a:off x="3273552" y="178308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 panose="020F0502020204030204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Validation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416552" y="2066544"/>
            <a:ext cx="201168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5"/>
          <p:cNvSpPr/>
          <p:nvPr/>
        </p:nvSpPr>
        <p:spPr>
          <a:xfrm>
            <a:off x="4636008" y="1783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220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5"/>
          <p:cNvSpPr txBox="1"/>
          <p:nvPr/>
        </p:nvSpPr>
        <p:spPr>
          <a:xfrm>
            <a:off x="4681728" y="178308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 panose="020F0502020204030204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Human Verification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824728" y="2066544"/>
            <a:ext cx="201168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5"/>
          <p:cNvSpPr/>
          <p:nvPr/>
        </p:nvSpPr>
        <p:spPr>
          <a:xfrm>
            <a:off x="6044184" y="1783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2E9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" name="Google Shape;149;p5"/>
          <p:cNvSpPr txBox="1"/>
          <p:nvPr/>
        </p:nvSpPr>
        <p:spPr>
          <a:xfrm>
            <a:off x="6089904" y="178308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 panose="020F0502020204030204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Clean Master Dataset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7232904" y="2066544"/>
            <a:ext cx="201168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5"/>
          <p:cNvSpPr/>
          <p:nvPr/>
        </p:nvSpPr>
        <p:spPr>
          <a:xfrm>
            <a:off x="7452360" y="17830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p5"/>
          <p:cNvSpPr txBox="1"/>
          <p:nvPr/>
        </p:nvSpPr>
        <p:spPr>
          <a:xfrm>
            <a:off x="7498080" y="178308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150"/>
              <a:buFont typeface="Calibri" panose="020F0502020204030204"/>
              <a:buNone/>
            </a:pPr>
            <a:r>
              <a:rPr lang="en-US" sz="115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Trusted Information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57200" y="2971800"/>
            <a:ext cx="190195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p5"/>
          <p:cNvSpPr/>
          <p:nvPr/>
        </p:nvSpPr>
        <p:spPr>
          <a:xfrm>
            <a:off x="649224" y="3182112"/>
            <a:ext cx="310896" cy="310896"/>
          </a:xfrm>
          <a:prstGeom prst="ellipse">
            <a:avLst/>
          </a:prstGeom>
          <a:solidFill>
            <a:srgbClr val="D6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" name="Google Shape;155;p5"/>
          <p:cNvSpPr txBox="1"/>
          <p:nvPr/>
        </p:nvSpPr>
        <p:spPr>
          <a:xfrm>
            <a:off x="640080" y="36118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1800"/>
              <a:buFont typeface="Cambria" panose="02040503050406030204"/>
              <a:buNone/>
            </a:pPr>
            <a:r>
              <a:rPr lang="en-US" sz="18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Detect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640080" y="397764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 panose="020F0502020204030204"/>
              <a:buNone/>
            </a:pPr>
            <a:r>
              <a:rPr lang="en-US" sz="115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Anomalies &amp; unusual values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542032" y="2971800"/>
            <a:ext cx="190195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8" name="Google Shape;158;p5"/>
          <p:cNvSpPr/>
          <p:nvPr/>
        </p:nvSpPr>
        <p:spPr>
          <a:xfrm>
            <a:off x="2734056" y="3182112"/>
            <a:ext cx="310896" cy="310896"/>
          </a:xfrm>
          <a:prstGeom prst="ellipse">
            <a:avLst/>
          </a:prstGeom>
          <a:solidFill>
            <a:srgbClr val="1D5C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5"/>
          <p:cNvSpPr txBox="1"/>
          <p:nvPr/>
        </p:nvSpPr>
        <p:spPr>
          <a:xfrm>
            <a:off x="2724912" y="36118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1800"/>
              <a:buFont typeface="Cambria" panose="02040503050406030204"/>
              <a:buNone/>
            </a:pPr>
            <a:r>
              <a:rPr lang="en-US" sz="18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Match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2724912" y="397764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 panose="020F0502020204030204"/>
              <a:buNone/>
            </a:pPr>
            <a:r>
              <a:rPr lang="en-US" sz="115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Duplicates &amp; similar records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626864" y="2971800"/>
            <a:ext cx="190195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5"/>
          <p:cNvSpPr/>
          <p:nvPr/>
        </p:nvSpPr>
        <p:spPr>
          <a:xfrm>
            <a:off x="4818888" y="3182112"/>
            <a:ext cx="310896" cy="310896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5"/>
          <p:cNvSpPr txBox="1"/>
          <p:nvPr/>
        </p:nvSpPr>
        <p:spPr>
          <a:xfrm>
            <a:off x="4809744" y="36118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1800"/>
              <a:buFont typeface="Cambria" panose="02040503050406030204"/>
              <a:buNone/>
            </a:pPr>
            <a:r>
              <a:rPr lang="en-US" sz="18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Standardize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4809744" y="397764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 panose="020F0502020204030204"/>
              <a:buNone/>
            </a:pPr>
            <a:r>
              <a:rPr lang="en-US" sz="115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Names, units, dates &amp; locations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711696" y="2971800"/>
            <a:ext cx="190195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5"/>
          <p:cNvSpPr/>
          <p:nvPr/>
        </p:nvSpPr>
        <p:spPr>
          <a:xfrm>
            <a:off x="6903720" y="3182112"/>
            <a:ext cx="310896" cy="310896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5"/>
          <p:cNvSpPr txBox="1"/>
          <p:nvPr/>
        </p:nvSpPr>
        <p:spPr>
          <a:xfrm>
            <a:off x="6894576" y="361188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1800"/>
              <a:buFont typeface="Cambria" panose="02040503050406030204"/>
              <a:buNone/>
            </a:pPr>
            <a:r>
              <a:rPr lang="en-US" sz="18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Flag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6894576" y="397764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 panose="020F0502020204030204"/>
              <a:buNone/>
            </a:pPr>
            <a:r>
              <a:rPr lang="en-US" sz="115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Conflicts for human review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9" name="Google Shape;169;p5" title="e-biciro-icon-dark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183878" y="83450"/>
            <a:ext cx="826749" cy="82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/>
          <p:nvPr/>
        </p:nvSpPr>
        <p:spPr>
          <a:xfrm>
            <a:off x="457200" y="292608"/>
            <a:ext cx="1485900" cy="246888"/>
          </a:xfrm>
          <a:prstGeom prst="roundRect">
            <a:avLst>
              <a:gd name="adj" fmla="val 48148"/>
            </a:avLst>
          </a:prstGeom>
          <a:solidFill>
            <a:srgbClr val="E3F3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p6"/>
          <p:cNvSpPr txBox="1"/>
          <p:nvPr/>
        </p:nvSpPr>
        <p:spPr>
          <a:xfrm>
            <a:off x="457200" y="292608"/>
            <a:ext cx="14859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0F3D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</a:t>
            </a:r>
            <a:r>
              <a:rPr lang="en-US" sz="900" b="1">
                <a:solidFill>
                  <a:srgbClr val="0F3D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e-biciro</a:t>
            </a:r>
            <a:r>
              <a:rPr lang="en-US" sz="900" b="1" i="0" u="none" strike="noStrike" cap="none">
                <a:solidFill>
                  <a:srgbClr val="0F3D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WORKS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AI Flags. Humans Decide.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4572000" y="6858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400"/>
              <a:buFont typeface="Calibri" panose="020F0502020204030204"/>
              <a:buNone/>
            </a:pPr>
            <a:r>
              <a:rPr lang="en-US" sz="1400" b="0" i="1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AI recommends. The authorized officer decides.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57200" y="1417320"/>
            <a:ext cx="82296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Google Shape;180;p6"/>
          <p:cNvSpPr/>
          <p:nvPr/>
        </p:nvSpPr>
        <p:spPr>
          <a:xfrm>
            <a:off x="457200" y="1417320"/>
            <a:ext cx="8229600" cy="329184"/>
          </a:xfrm>
          <a:prstGeom prst="rect">
            <a:avLst/>
          </a:prstGeom>
          <a:solidFill>
            <a:srgbClr val="1220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6"/>
          <p:cNvSpPr txBox="1"/>
          <p:nvPr/>
        </p:nvSpPr>
        <p:spPr>
          <a:xfrm>
            <a:off x="640080" y="1417320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 panose="020F0502020204030204"/>
              <a:buNone/>
            </a:pPr>
            <a:r>
              <a:rPr lang="en-US" sz="10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e-biciro</a:t>
            </a:r>
            <a:r>
              <a:rPr lang="en-US" sz="10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·  Validation Queue  ·  Beans, Musanze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6949440" y="1417320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E8A3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SAMPLE DATA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685800" y="192024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RECORD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85800" y="21488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700"/>
              <a:buFont typeface="Calibri" panose="020F0502020204030204"/>
              <a:buNone/>
            </a:pPr>
            <a:r>
              <a:rPr lang="en-US" sz="170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Beans — Musanze</a:t>
            </a:r>
            <a:endParaRPr sz="1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685800" y="26974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000"/>
              <a:buFont typeface="Calibri" panose="020F0502020204030204"/>
              <a:buNone/>
            </a:pPr>
            <a:r>
              <a:rPr lang="en-US" sz="100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Reported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685800" y="292608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2400"/>
              <a:buFont typeface="Cambria" panose="02040503050406030204"/>
              <a:buNone/>
            </a:pPr>
            <a:r>
              <a:rPr lang="en-US" sz="2400" b="1" i="0" u="none" strike="noStrike" cap="none">
                <a:solidFill>
                  <a:srgbClr val="D64545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12,500 RWF/kg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3291840" y="19202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000"/>
              <a:buFont typeface="Calibri" panose="020F0502020204030204"/>
              <a:buNone/>
            </a:pPr>
            <a:r>
              <a:rPr lang="en-US" sz="100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Historical range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3291840" y="21488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1,100–1,400 RWF/kg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3291840" y="274320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000"/>
              <a:buFont typeface="Calibri" panose="020F0502020204030204"/>
              <a:buNone/>
            </a:pPr>
            <a:r>
              <a:rPr lang="en-US" sz="100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Cross-source comparison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3291840" y="29718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1,200–1,250 RWF/kg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989320" y="1874520"/>
            <a:ext cx="2514600" cy="1783080"/>
          </a:xfrm>
          <a:prstGeom prst="roundRect">
            <a:avLst>
              <a:gd name="adj" fmla="val 3077"/>
            </a:avLst>
          </a:prstGeom>
          <a:solidFill>
            <a:srgbClr val="FBE9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Google Shape;192;p6"/>
          <p:cNvSpPr/>
          <p:nvPr/>
        </p:nvSpPr>
        <p:spPr>
          <a:xfrm>
            <a:off x="6126480" y="2011680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D6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3" name="Google Shape;193;p6"/>
          <p:cNvSpPr txBox="1"/>
          <p:nvPr/>
        </p:nvSpPr>
        <p:spPr>
          <a:xfrm>
            <a:off x="6126480" y="2011680"/>
            <a:ext cx="201168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HIGH-PRIORITY REVIEW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6126480" y="2377440"/>
            <a:ext cx="22860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150"/>
              <a:buFont typeface="Calibri" panose="020F0502020204030204"/>
              <a:buNone/>
            </a:pPr>
            <a:r>
              <a:rPr lang="en-US" sz="1150" b="0" i="1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“Reported price differs significantly from historical and cross-source observations.”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85800" y="3977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6"/>
          <p:cNvSpPr txBox="1"/>
          <p:nvPr/>
        </p:nvSpPr>
        <p:spPr>
          <a:xfrm>
            <a:off x="685800" y="3977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VERIFY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633472" y="3977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220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8" name="Google Shape;198;p6"/>
          <p:cNvSpPr txBox="1"/>
          <p:nvPr/>
        </p:nvSpPr>
        <p:spPr>
          <a:xfrm>
            <a:off x="2633472" y="3977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CORRECT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581144" y="3977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D645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0" name="Google Shape;200;p6"/>
          <p:cNvSpPr txBox="1"/>
          <p:nvPr/>
        </p:nvSpPr>
        <p:spPr>
          <a:xfrm>
            <a:off x="4581144" y="3977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REJECT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528816" y="3977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2" name="Google Shape;202;p6"/>
          <p:cNvSpPr txBox="1"/>
          <p:nvPr/>
        </p:nvSpPr>
        <p:spPr>
          <a:xfrm>
            <a:off x="6528816" y="39776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050"/>
              <a:buFont typeface="Calibri" panose="020F0502020204030204"/>
              <a:buNone/>
            </a:pPr>
            <a:r>
              <a:rPr lang="en-US" sz="105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REQUEST VERIFICATION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03" name="Google Shape;203;p6" title="e-biciro-icon-dark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357626" y="96150"/>
            <a:ext cx="654324" cy="654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"/>
          <p:cNvSpPr/>
          <p:nvPr/>
        </p:nvSpPr>
        <p:spPr>
          <a:xfrm>
            <a:off x="457200" y="292608"/>
            <a:ext cx="1019556" cy="246888"/>
          </a:xfrm>
          <a:prstGeom prst="roundRect">
            <a:avLst>
              <a:gd name="adj" fmla="val 48148"/>
            </a:avLst>
          </a:prstGeom>
          <a:solidFill>
            <a:srgbClr val="E3F3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8" name="Google Shape;318;p10"/>
          <p:cNvSpPr txBox="1"/>
          <p:nvPr/>
        </p:nvSpPr>
        <p:spPr>
          <a:xfrm>
            <a:off x="457200" y="292608"/>
            <a:ext cx="1019556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0F3D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PILOT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9" name="Google Shape;319;p10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Start Small. Prove Value. Scale.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7090410" y="657858"/>
            <a:ext cx="1463100" cy="246900"/>
          </a:xfrm>
          <a:prstGeom prst="roundRect">
            <a:avLst>
              <a:gd name="adj" fmla="val 48148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1" name="Google Shape;321;p10"/>
          <p:cNvSpPr txBox="1"/>
          <p:nvPr/>
        </p:nvSpPr>
        <p:spPr>
          <a:xfrm>
            <a:off x="7090410" y="667508"/>
            <a:ext cx="1463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PROPOSED PILOT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57200" y="13716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3" name="Google Shape;323;p10"/>
          <p:cNvSpPr txBox="1"/>
          <p:nvPr/>
        </p:nvSpPr>
        <p:spPr>
          <a:xfrm>
            <a:off x="685800" y="148132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000"/>
              <a:buFont typeface="Calibri" panose="020F0502020204030204"/>
              <a:buNone/>
            </a:pPr>
            <a:r>
              <a:rPr lang="en-US" sz="1000" b="1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 COMMODITY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685800" y="178308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Beans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3017520" y="13716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6" name="Google Shape;326;p10"/>
          <p:cNvSpPr txBox="1"/>
          <p:nvPr/>
        </p:nvSpPr>
        <p:spPr>
          <a:xfrm>
            <a:off x="3246120" y="148132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000"/>
              <a:buFont typeface="Calibri" panose="020F0502020204030204"/>
              <a:buNone/>
            </a:pPr>
            <a:r>
              <a:rPr lang="en-US" sz="1000" b="1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 DISTRICT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3246120" y="178308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Musanze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5577840" y="13716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9" name="Google Shape;329;p10"/>
          <p:cNvSpPr txBox="1"/>
          <p:nvPr/>
        </p:nvSpPr>
        <p:spPr>
          <a:xfrm>
            <a:off x="5806440" y="148132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000"/>
              <a:buFont typeface="Calibri" panose="020F0502020204030204"/>
              <a:buNone/>
            </a:pPr>
            <a:r>
              <a:rPr lang="en-US" sz="1000" b="1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MULTIPLE SOURCES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0" name="Google Shape;330;p10"/>
          <p:cNvSpPr txBox="1"/>
          <p:nvPr/>
        </p:nvSpPr>
        <p:spPr>
          <a:xfrm>
            <a:off x="5806440" y="1783080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1600"/>
              <a:buFont typeface="Cambria" panose="02040503050406030204"/>
              <a:buNone/>
            </a:pPr>
            <a:r>
              <a:rPr lang="en-US" sz="16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Cooperatives + Markets + District Records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457200" y="301752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0F3D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2" name="Google Shape;332;p10"/>
          <p:cNvSpPr txBox="1"/>
          <p:nvPr/>
        </p:nvSpPr>
        <p:spPr>
          <a:xfrm>
            <a:off x="457200" y="309067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800"/>
              <a:buFont typeface="Cambria" panose="02040503050406030204"/>
              <a:buNone/>
            </a:pPr>
            <a:r>
              <a:rPr lang="en-US" sz="1800" b="1" i="0" u="none" strike="noStrike" cap="none">
                <a:solidFill>
                  <a:srgbClr val="E8A31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457200" y="34747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Collect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1847088" y="301752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0F3D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5" name="Google Shape;335;p10"/>
          <p:cNvSpPr txBox="1"/>
          <p:nvPr/>
        </p:nvSpPr>
        <p:spPr>
          <a:xfrm>
            <a:off x="1847088" y="309067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800"/>
              <a:buFont typeface="Cambria" panose="02040503050406030204"/>
              <a:buNone/>
            </a:pPr>
            <a:r>
              <a:rPr lang="en-US" sz="1800" b="1" i="0" u="none" strike="noStrike" cap="none">
                <a:solidFill>
                  <a:srgbClr val="E8A31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1847088" y="34747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Validate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3236976" y="301752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0F3D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8" name="Google Shape;338;p10"/>
          <p:cNvSpPr txBox="1"/>
          <p:nvPr/>
        </p:nvSpPr>
        <p:spPr>
          <a:xfrm>
            <a:off x="3236976" y="309067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800"/>
              <a:buFont typeface="Cambria" panose="02040503050406030204"/>
              <a:buNone/>
            </a:pPr>
            <a:r>
              <a:rPr lang="en-US" sz="1800" b="1" i="0" u="none" strike="noStrike" cap="none">
                <a:solidFill>
                  <a:srgbClr val="E8A31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3236976" y="34747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Detect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4626864" y="301752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1220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1" name="Google Shape;341;p10"/>
          <p:cNvSpPr txBox="1"/>
          <p:nvPr/>
        </p:nvSpPr>
        <p:spPr>
          <a:xfrm>
            <a:off x="4626864" y="309067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800"/>
              <a:buFont typeface="Cambria" panose="02040503050406030204"/>
              <a:buNone/>
            </a:pPr>
            <a:r>
              <a:rPr lang="en-US" sz="1800" b="1" i="0" u="none" strike="noStrike" cap="none">
                <a:solidFill>
                  <a:srgbClr val="E8A31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4626864" y="34747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Review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6016752" y="301752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0F3D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4" name="Google Shape;344;p10"/>
          <p:cNvSpPr txBox="1"/>
          <p:nvPr/>
        </p:nvSpPr>
        <p:spPr>
          <a:xfrm>
            <a:off x="6016752" y="309067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800"/>
              <a:buFont typeface="Cambria" panose="02040503050406030204"/>
              <a:buNone/>
            </a:pPr>
            <a:r>
              <a:rPr lang="en-US" sz="1800" b="1" i="0" u="none" strike="noStrike" cap="none">
                <a:solidFill>
                  <a:srgbClr val="E8A31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05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6016752" y="34747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Synchronize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7406640" y="301752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0F3D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7" name="Google Shape;347;p10"/>
          <p:cNvSpPr txBox="1"/>
          <p:nvPr/>
        </p:nvSpPr>
        <p:spPr>
          <a:xfrm>
            <a:off x="7406640" y="309067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1800"/>
              <a:buFont typeface="Cambria" panose="02040503050406030204"/>
              <a:buNone/>
            </a:pPr>
            <a:r>
              <a:rPr lang="en-US" sz="1800" b="1" i="0" u="none" strike="noStrike" cap="none">
                <a:solidFill>
                  <a:srgbClr val="E8A31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06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7406640" y="34747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Publish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9" name="Google Shape;349;p10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00"/>
              <a:buFont typeface="Calibri" panose="020F0502020204030204"/>
              <a:buNone/>
            </a:pPr>
            <a:r>
              <a:rPr lang="en-US" sz="1100" b="0" i="1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Proposal only. No MINAGRI deployment is claimed.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50" name="Google Shape;350;p10" title="e-biciro-icon-dark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461975" y="18625"/>
            <a:ext cx="548649" cy="54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"/>
          <p:cNvSpPr/>
          <p:nvPr/>
        </p:nvSpPr>
        <p:spPr>
          <a:xfrm>
            <a:off x="457200" y="292608"/>
            <a:ext cx="1175004" cy="246888"/>
          </a:xfrm>
          <a:prstGeom prst="roundRect">
            <a:avLst>
              <a:gd name="adj" fmla="val 48148"/>
            </a:avLst>
          </a:prstGeom>
          <a:solidFill>
            <a:srgbClr val="E3F3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7" name="Google Shape;357;p11"/>
          <p:cNvSpPr txBox="1"/>
          <p:nvPr/>
        </p:nvSpPr>
        <p:spPr>
          <a:xfrm>
            <a:off x="457200" y="292608"/>
            <a:ext cx="1175004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0F3D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ROADMAP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2400"/>
              <a:buFont typeface="Cambria" panose="02040503050406030204"/>
              <a:buNone/>
            </a:pPr>
            <a:r>
              <a:rPr lang="en-US" sz="24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From One District to a National Data Ecosystem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457200" y="137160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0" name="Google Shape;360;p11"/>
          <p:cNvSpPr txBox="1"/>
          <p:nvPr/>
        </p:nvSpPr>
        <p:spPr>
          <a:xfrm>
            <a:off x="640080" y="1371600"/>
            <a:ext cx="7315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E8A31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01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1417320" y="14813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0F3D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PILOT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2" name="Google Shape;362;p11"/>
          <p:cNvSpPr txBox="1"/>
          <p:nvPr/>
        </p:nvSpPr>
        <p:spPr>
          <a:xfrm>
            <a:off x="1417320" y="175564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 panose="020F0502020204030204"/>
              <a:buNone/>
            </a:pPr>
            <a:r>
              <a:rPr lang="en-US" sz="115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 commodity · 1 district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457200" y="246888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4" name="Google Shape;364;p11"/>
          <p:cNvSpPr txBox="1"/>
          <p:nvPr/>
        </p:nvSpPr>
        <p:spPr>
          <a:xfrm>
            <a:off x="640080" y="2468880"/>
            <a:ext cx="7315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5B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2E9E5B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02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5" name="Google Shape;365;p11"/>
          <p:cNvSpPr txBox="1"/>
          <p:nvPr/>
        </p:nvSpPr>
        <p:spPr>
          <a:xfrm>
            <a:off x="1417320" y="25786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0F3D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EXPANSION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6" name="Google Shape;366;p11"/>
          <p:cNvSpPr txBox="1"/>
          <p:nvPr/>
        </p:nvSpPr>
        <p:spPr>
          <a:xfrm>
            <a:off x="1417320" y="285292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 panose="020F0502020204030204"/>
              <a:buNone/>
            </a:pPr>
            <a:r>
              <a:rPr lang="en-US" sz="115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Multiple commodities · Multiple districts · More data sources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457200" y="35661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8" name="Google Shape;368;p11"/>
          <p:cNvSpPr txBox="1"/>
          <p:nvPr/>
        </p:nvSpPr>
        <p:spPr>
          <a:xfrm>
            <a:off x="640080" y="3566160"/>
            <a:ext cx="7315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03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9" name="Google Shape;369;p11"/>
          <p:cNvSpPr txBox="1"/>
          <p:nvPr/>
        </p:nvSpPr>
        <p:spPr>
          <a:xfrm>
            <a:off x="1417320" y="36758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1300"/>
              <a:buFont typeface="Calibri" panose="020F0502020204030204"/>
              <a:buNone/>
            </a:pPr>
            <a:r>
              <a:rPr lang="en-US" sz="1300" b="1" i="0" u="none" strike="noStrike" cap="none">
                <a:solidFill>
                  <a:srgbClr val="0F3D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NATIONAL SCALE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0" name="Google Shape;370;p11"/>
          <p:cNvSpPr txBox="1"/>
          <p:nvPr/>
        </p:nvSpPr>
        <p:spPr>
          <a:xfrm>
            <a:off x="1417320" y="3950208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50"/>
              <a:buFont typeface="Calibri" panose="020F0502020204030204"/>
              <a:buNone/>
            </a:pPr>
            <a:r>
              <a:rPr lang="en-US" sz="115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National commodity-price data validation and synchronization infrastructure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5486400" y="1371600"/>
            <a:ext cx="3200400" cy="3043580"/>
          </a:xfrm>
          <a:custGeom>
            <a:avLst/>
            <a:gdLst/>
            <a:ahLst/>
            <a:cxnLst/>
            <a:rect l="l" t="t" r="r" b="b"/>
            <a:pathLst>
              <a:path w="3200400" h="3043580" extrusionOk="0">
                <a:moveTo>
                  <a:pt x="951470" y="570671"/>
                </a:moveTo>
                <a:lnTo>
                  <a:pt x="1418556" y="518792"/>
                </a:lnTo>
                <a:lnTo>
                  <a:pt x="2024037" y="155638"/>
                </a:lnTo>
                <a:lnTo>
                  <a:pt x="2491122" y="0"/>
                </a:lnTo>
                <a:lnTo>
                  <a:pt x="2923609" y="501499"/>
                </a:lnTo>
                <a:lnTo>
                  <a:pt x="3148502" y="899240"/>
                </a:lnTo>
                <a:lnTo>
                  <a:pt x="2975507" y="1539083"/>
                </a:lnTo>
                <a:lnTo>
                  <a:pt x="3200400" y="2144341"/>
                </a:lnTo>
                <a:lnTo>
                  <a:pt x="2629518" y="2351858"/>
                </a:lnTo>
                <a:lnTo>
                  <a:pt x="2197031" y="2317271"/>
                </a:lnTo>
                <a:lnTo>
                  <a:pt x="1764545" y="2576667"/>
                </a:lnTo>
                <a:lnTo>
                  <a:pt x="1418556" y="2974408"/>
                </a:lnTo>
                <a:lnTo>
                  <a:pt x="640080" y="3043580"/>
                </a:lnTo>
                <a:lnTo>
                  <a:pt x="34599" y="2836064"/>
                </a:lnTo>
                <a:lnTo>
                  <a:pt x="294091" y="2230806"/>
                </a:lnTo>
                <a:lnTo>
                  <a:pt x="0" y="1625549"/>
                </a:lnTo>
                <a:lnTo>
                  <a:pt x="380588" y="1072170"/>
                </a:lnTo>
                <a:lnTo>
                  <a:pt x="553583" y="760895"/>
                </a:lnTo>
                <a:close/>
              </a:path>
            </a:pathLst>
          </a:custGeom>
          <a:solidFill>
            <a:srgbClr val="E3F3EA"/>
          </a:solidFill>
          <a:ln w="19050" cap="flat" cmpd="sng">
            <a:solidFill>
              <a:srgbClr val="1D5C4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p11"/>
          <p:cNvSpPr/>
          <p:nvPr/>
        </p:nvSpPr>
        <p:spPr>
          <a:xfrm>
            <a:off x="6396352" y="2004479"/>
            <a:ext cx="256032" cy="256032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3" name="Google Shape;373;p11"/>
          <p:cNvSpPr/>
          <p:nvPr/>
        </p:nvSpPr>
        <p:spPr>
          <a:xfrm>
            <a:off x="7185948" y="2828387"/>
            <a:ext cx="164592" cy="164592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4" name="Google Shape;374;p11"/>
          <p:cNvSpPr/>
          <p:nvPr/>
        </p:nvSpPr>
        <p:spPr>
          <a:xfrm>
            <a:off x="6632366" y="3952437"/>
            <a:ext cx="164592" cy="164592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5" name="Google Shape;375;p11"/>
          <p:cNvSpPr/>
          <p:nvPr/>
        </p:nvSpPr>
        <p:spPr>
          <a:xfrm>
            <a:off x="5957687" y="2396061"/>
            <a:ext cx="164592" cy="164592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6" name="Google Shape;376;p11"/>
          <p:cNvSpPr/>
          <p:nvPr/>
        </p:nvSpPr>
        <p:spPr>
          <a:xfrm>
            <a:off x="7653034" y="1704338"/>
            <a:ext cx="164592" cy="164592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7" name="Google Shape;377;p11"/>
          <p:cNvSpPr/>
          <p:nvPr/>
        </p:nvSpPr>
        <p:spPr>
          <a:xfrm>
            <a:off x="8293114" y="3347179"/>
            <a:ext cx="164592" cy="164592"/>
          </a:xfrm>
          <a:prstGeom prst="ellipse">
            <a:avLst/>
          </a:prstGeom>
          <a:solidFill>
            <a:srgbClr val="1D5C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8" name="Google Shape;378;p11"/>
          <p:cNvSpPr/>
          <p:nvPr/>
        </p:nvSpPr>
        <p:spPr>
          <a:xfrm>
            <a:off x="6009585" y="3174249"/>
            <a:ext cx="164592" cy="164592"/>
          </a:xfrm>
          <a:prstGeom prst="ellipse">
            <a:avLst/>
          </a:prstGeom>
          <a:solidFill>
            <a:srgbClr val="1D5C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9" name="Google Shape;379;p11"/>
          <p:cNvSpPr/>
          <p:nvPr/>
        </p:nvSpPr>
        <p:spPr>
          <a:xfrm>
            <a:off x="5611698" y="3693041"/>
            <a:ext cx="164592" cy="164592"/>
          </a:xfrm>
          <a:prstGeom prst="ellipse">
            <a:avLst/>
          </a:prstGeom>
          <a:solidFill>
            <a:srgbClr val="1D5C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0" name="Google Shape;380;p11"/>
          <p:cNvSpPr txBox="1"/>
          <p:nvPr/>
        </p:nvSpPr>
        <p:spPr>
          <a:xfrm>
            <a:off x="5486400" y="455371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950"/>
              <a:buFont typeface="Calibri" panose="020F0502020204030204"/>
              <a:buNone/>
            </a:pPr>
            <a:r>
              <a:rPr lang="en-US" sz="950" b="0" i="1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Schematic map. Locations approximate.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81" name="Google Shape;381;p11" title="e-biciro-icon-dark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183878" y="83450"/>
            <a:ext cx="826749" cy="82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"/>
          <p:cNvSpPr/>
          <p:nvPr/>
        </p:nvSpPr>
        <p:spPr>
          <a:xfrm>
            <a:off x="457200" y="292608"/>
            <a:ext cx="941832" cy="246888"/>
          </a:xfrm>
          <a:prstGeom prst="roundRect">
            <a:avLst>
              <a:gd name="adj" fmla="val 48148"/>
            </a:avLst>
          </a:prstGeom>
          <a:solidFill>
            <a:srgbClr val="E3F3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1" name="Google Shape;461;p14"/>
          <p:cNvSpPr txBox="1"/>
          <p:nvPr/>
        </p:nvSpPr>
        <p:spPr>
          <a:xfrm>
            <a:off x="457200" y="292608"/>
            <a:ext cx="94183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0F3D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TEAM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2" name="Google Shape;462;p14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3000"/>
              <a:buFont typeface="Cambria" panose="02040503050406030204"/>
              <a:buNone/>
            </a:pPr>
            <a:r>
              <a:rPr lang="en-US" sz="30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Our Team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463" name="Google Shape;463;p14"/>
          <p:cNvGrpSpPr/>
          <p:nvPr/>
        </p:nvGrpSpPr>
        <p:grpSpPr>
          <a:xfrm>
            <a:off x="495300" y="1381125"/>
            <a:ext cx="8153400" cy="3000450"/>
            <a:chOff x="495300" y="1381125"/>
            <a:chExt cx="8153400" cy="3000450"/>
          </a:xfrm>
        </p:grpSpPr>
        <p:sp>
          <p:nvSpPr>
            <p:cNvPr id="464" name="Google Shape;464;p14"/>
            <p:cNvSpPr/>
            <p:nvPr/>
          </p:nvSpPr>
          <p:spPr>
            <a:xfrm>
              <a:off x="495300" y="1381125"/>
              <a:ext cx="2552700" cy="1381200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9525" cap="flat" cmpd="sng">
              <a:solidFill>
                <a:srgbClr val="E1B6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495300" y="1381125"/>
              <a:ext cx="57300" cy="1381200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66" name="Google Shape;466;p14"/>
            <p:cNvSpPr txBox="1"/>
            <p:nvPr/>
          </p:nvSpPr>
          <p:spPr>
            <a:xfrm>
              <a:off x="685800" y="1381125"/>
              <a:ext cx="21717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100"/>
                <a:buFont typeface="Inter" panose="02000503000000020004"/>
                <a:buNone/>
              </a:pPr>
              <a:r>
                <a:rPr lang="en-US" sz="1100" b="1">
                  <a:solidFill>
                    <a:srgbClr val="00B050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NIYONKURU Jean De La Croix</a:t>
              </a:r>
              <a:endParaRPr sz="1100" b="1" i="0" u="none" strike="noStrike" cap="none">
                <a:solidFill>
                  <a:srgbClr val="00B05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Clr>
                  <a:srgbClr val="444444"/>
                </a:buClr>
                <a:buSzPts val="950"/>
                <a:buFont typeface="Inter" panose="02000503000000020004"/>
                <a:buNone/>
              </a:pPr>
              <a:r>
                <a:rPr lang="en-US" sz="950">
                  <a:solidFill>
                    <a:srgbClr val="444444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Network engineer | software engineer</a:t>
              </a:r>
              <a:endParaRPr sz="950" b="0" i="0" u="none" strike="noStrike" cap="none">
                <a:solidFill>
                  <a:srgbClr val="44444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3295650" y="1381125"/>
              <a:ext cx="2552700" cy="1381200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9525" cap="flat" cmpd="sng">
              <a:solidFill>
                <a:srgbClr val="E1B6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3295650" y="1381125"/>
              <a:ext cx="57300" cy="1381200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69" name="Google Shape;469;p14"/>
            <p:cNvSpPr txBox="1"/>
            <p:nvPr/>
          </p:nvSpPr>
          <p:spPr>
            <a:xfrm>
              <a:off x="3486150" y="1381125"/>
              <a:ext cx="21717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100"/>
                <a:buFont typeface="Inter" panose="02000503000000020004"/>
                <a:buNone/>
              </a:pPr>
              <a:r>
                <a:rPr lang="en-US" sz="1100" b="1" i="0" u="none" strike="noStrike" cap="none">
                  <a:solidFill>
                    <a:srgbClr val="00B050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Edison UWI</a:t>
              </a:r>
              <a:r>
                <a:rPr lang="en-US" sz="1100" b="1">
                  <a:solidFill>
                    <a:srgbClr val="00B050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HANGANYE</a:t>
              </a:r>
              <a:endParaRPr sz="1100" b="1" i="0" u="none" strike="noStrike" cap="none">
                <a:solidFill>
                  <a:srgbClr val="00B05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Clr>
                  <a:srgbClr val="444444"/>
                </a:buClr>
                <a:buSzPts val="950"/>
                <a:buFont typeface="Inter" panose="02000503000000020004"/>
                <a:buNone/>
              </a:pPr>
              <a:r>
                <a:rPr lang="en-US" sz="950">
                  <a:solidFill>
                    <a:srgbClr val="444444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Software Engineer</a:t>
              </a:r>
              <a:endParaRPr sz="950">
                <a:solidFill>
                  <a:srgbClr val="44444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Clr>
                  <a:srgbClr val="444444"/>
                </a:buClr>
                <a:buSzPts val="950"/>
                <a:buFont typeface="Inter" panose="02000503000000020004"/>
                <a:buNone/>
              </a:pPr>
              <a:r>
                <a:rPr lang="en-US" sz="950">
                  <a:solidFill>
                    <a:srgbClr val="444444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Machine learning engineer</a:t>
              </a:r>
              <a:endParaRPr sz="950">
                <a:solidFill>
                  <a:srgbClr val="44444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6096000" y="1381125"/>
              <a:ext cx="2552700" cy="1381200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9525" cap="flat" cmpd="sng">
              <a:solidFill>
                <a:srgbClr val="E1B6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6096000" y="1381125"/>
              <a:ext cx="57300" cy="1381200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2" name="Google Shape;472;p14"/>
            <p:cNvSpPr txBox="1"/>
            <p:nvPr/>
          </p:nvSpPr>
          <p:spPr>
            <a:xfrm>
              <a:off x="6286500" y="1381125"/>
              <a:ext cx="21717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100"/>
                <a:buFont typeface="Inter" panose="02000503000000020004"/>
                <a:buNone/>
              </a:pPr>
              <a:r>
                <a:rPr lang="en-US" sz="1100" b="1">
                  <a:solidFill>
                    <a:srgbClr val="00B050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Elisha </a:t>
              </a:r>
              <a:r>
                <a:rPr lang="en-US" sz="1100" b="1" i="0" u="none" strike="noStrike" cap="none">
                  <a:solidFill>
                    <a:srgbClr val="00B050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Clever </a:t>
              </a:r>
              <a:r>
                <a:rPr lang="en-US" sz="1100" b="1">
                  <a:solidFill>
                    <a:srgbClr val="00B050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Rukundo </a:t>
              </a:r>
              <a:endParaRPr sz="1100" b="1" i="0" u="none" strike="noStrike" cap="none">
                <a:solidFill>
                  <a:srgbClr val="00B05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Clr>
                  <a:srgbClr val="444444"/>
                </a:buClr>
                <a:buSzPts val="950"/>
                <a:buFont typeface="Inter" panose="02000503000000020004"/>
                <a:buNone/>
              </a:pPr>
              <a:r>
                <a:rPr lang="en-US" sz="950">
                  <a:solidFill>
                    <a:srgbClr val="444444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Business Development and Entrepreneurship Consultant</a:t>
              </a:r>
              <a:endParaRPr sz="950" b="0" i="0" u="none" strike="noStrike" cap="none">
                <a:solidFill>
                  <a:srgbClr val="44444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1895475" y="3000375"/>
              <a:ext cx="2552700" cy="1381200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9525" cap="flat" cmpd="sng">
              <a:solidFill>
                <a:srgbClr val="E1B6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1895475" y="3000375"/>
              <a:ext cx="57300" cy="1381200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5" name="Google Shape;475;p14"/>
            <p:cNvSpPr txBox="1"/>
            <p:nvPr/>
          </p:nvSpPr>
          <p:spPr>
            <a:xfrm>
              <a:off x="2085975" y="3000375"/>
              <a:ext cx="21717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100"/>
                <a:buFont typeface="Inter" panose="02000503000000020004"/>
                <a:buNone/>
              </a:pPr>
              <a:r>
                <a:rPr lang="en-US" sz="1100" b="1" i="0" u="none" strike="noStrike" cap="none">
                  <a:solidFill>
                    <a:srgbClr val="00B050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Aimee Kevine ISANGE SEBAGENI</a:t>
              </a:r>
              <a:endParaRPr sz="1100" b="1" i="0" u="none" strike="noStrike" cap="none">
                <a:solidFill>
                  <a:srgbClr val="00B05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Clr>
                  <a:srgbClr val="444444"/>
                </a:buClr>
                <a:buSzPts val="950"/>
                <a:buFont typeface="Inter" panose="02000503000000020004"/>
                <a:buNone/>
              </a:pPr>
              <a:r>
                <a:rPr lang="en-US" sz="950">
                  <a:solidFill>
                    <a:srgbClr val="444444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Agrotech IT</a:t>
              </a:r>
              <a:endParaRPr sz="950" b="0" i="0" u="none" strike="noStrike" cap="none">
                <a:solidFill>
                  <a:srgbClr val="44444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4695825" y="3000375"/>
              <a:ext cx="2552700" cy="1381200"/>
            </a:xfrm>
            <a:prstGeom prst="roundRect">
              <a:avLst>
                <a:gd name="adj" fmla="val 5517"/>
              </a:avLst>
            </a:prstGeom>
            <a:solidFill>
              <a:srgbClr val="FFFFFF"/>
            </a:solidFill>
            <a:ln w="9525" cap="flat" cmpd="sng">
              <a:solidFill>
                <a:srgbClr val="E1B6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4695825" y="3000375"/>
              <a:ext cx="57300" cy="1381200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8" name="Google Shape;478;p14"/>
            <p:cNvSpPr txBox="1"/>
            <p:nvPr/>
          </p:nvSpPr>
          <p:spPr>
            <a:xfrm>
              <a:off x="4886325" y="3000375"/>
              <a:ext cx="21717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A91D34"/>
                </a:buClr>
                <a:buSzPts val="1100"/>
                <a:buFont typeface="Inter" panose="02000503000000020004"/>
                <a:buNone/>
              </a:pPr>
              <a:r>
                <a:rPr lang="en-US" sz="1100" b="1" i="0" u="none" strike="noStrike" cap="none">
                  <a:solidFill>
                    <a:srgbClr val="A91D34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/>
              </a:r>
              <a:r>
                <a:rPr lang="en-US" sz="1100" b="1">
                  <a:solidFill>
                    <a:srgbClr val="00B050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MUSABYIMANA Jean </a:t>
              </a:r>
              <a:r>
                <a:rPr lang="en-US" sz="1100" b="1">
                  <a:solidFill>
                    <a:srgbClr val="00B050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D'amour</a:t>
              </a:r>
              <a:endParaRPr sz="1100" b="1" i="0" u="none" strike="noStrike" cap="none">
                <a:solidFill>
                  <a:srgbClr val="A91D3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Clr>
                  <a:srgbClr val="444444"/>
                </a:buClr>
                <a:buSzPts val="950"/>
                <a:buFont typeface="Inter" panose="02000503000000020004"/>
                <a:buNone/>
              </a:pPr>
              <a:r>
                <a:rPr lang="en-US" sz="950">
                  <a:solidFill>
                    <a:srgbClr val="444444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Mathematical skills</a:t>
              </a:r>
              <a:endParaRPr sz="950">
                <a:solidFill>
                  <a:srgbClr val="44444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Clr>
                  <a:srgbClr val="444444"/>
                </a:buClr>
                <a:buSzPts val="950"/>
                <a:buFont typeface="Inter" panose="02000503000000020004"/>
                <a:buNone/>
              </a:pPr>
              <a:r>
                <a:rPr lang="en-US" sz="950">
                  <a:solidFill>
                    <a:srgbClr val="444444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Data</a:t>
              </a:r>
              <a:r>
                <a:rPr lang="en-US" sz="950">
                  <a:solidFill>
                    <a:srgbClr val="444444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 analysis skills</a:t>
              </a:r>
              <a:endParaRPr sz="950">
                <a:solidFill>
                  <a:srgbClr val="44444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  <a:p>
              <a:pPr marL="0" marR="0" lvl="0" indent="0" algn="l" rtl="0">
                <a:spcBef>
                  <a:spcPts val="600"/>
                </a:spcBef>
                <a:spcAft>
                  <a:spcPts val="0"/>
                </a:spcAft>
                <a:buClr>
                  <a:srgbClr val="444444"/>
                </a:buClr>
                <a:buSzPts val="950"/>
                <a:buFont typeface="Inter" panose="02000503000000020004"/>
                <a:buNone/>
              </a:pPr>
              <a:r>
                <a:rPr lang="en-US" sz="950">
                  <a:solidFill>
                    <a:srgbClr val="444444"/>
                  </a:solidFill>
                  <a:latin typeface="Inter" panose="02000503000000020004"/>
                  <a:ea typeface="Inter" panose="02000503000000020004"/>
                  <a:cs typeface="Inter" panose="02000503000000020004"/>
                  <a:sym typeface="Inter" panose="02000503000000020004"/>
                </a:rPr>
                <a:t>Machine learning skills</a:t>
              </a:r>
              <a:endParaRPr sz="950">
                <a:solidFill>
                  <a:srgbClr val="444444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endParaRPr>
            </a:p>
          </p:txBody>
        </p:sp>
      </p:grpSp>
      <p:pic>
        <p:nvPicPr>
          <p:cNvPr id="479" name="Google Shape;479;p14" title="e-biciro-icon-dark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183878" y="83450"/>
            <a:ext cx="826749" cy="82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2E"/>
        </a:solidFill>
        <a:effectLst/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5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 panose="02040503050406030204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From Fragmented Data → Trusted Decisions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411480" y="150876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D5C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7" name="Google Shape;487;p15"/>
          <p:cNvSpPr txBox="1"/>
          <p:nvPr/>
        </p:nvSpPr>
        <p:spPr>
          <a:xfrm>
            <a:off x="457200" y="150876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SOURCE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1600200" y="1773936"/>
            <a:ext cx="201168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9" name="Google Shape;489;p15"/>
          <p:cNvSpPr/>
          <p:nvPr/>
        </p:nvSpPr>
        <p:spPr>
          <a:xfrm>
            <a:off x="1819656" y="150876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D5C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0" name="Google Shape;490;p15"/>
          <p:cNvSpPr txBox="1"/>
          <p:nvPr/>
        </p:nvSpPr>
        <p:spPr>
          <a:xfrm>
            <a:off x="1865376" y="150876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VALIDATION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3008376" y="1773936"/>
            <a:ext cx="201168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2" name="Google Shape;492;p15"/>
          <p:cNvSpPr/>
          <p:nvPr/>
        </p:nvSpPr>
        <p:spPr>
          <a:xfrm>
            <a:off x="3227832" y="150876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1220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3" name="Google Shape;493;p15"/>
          <p:cNvSpPr txBox="1"/>
          <p:nvPr/>
        </p:nvSpPr>
        <p:spPr>
          <a:xfrm>
            <a:off x="3273552" y="150876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HUMAN REVIEW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4416552" y="1773936"/>
            <a:ext cx="201168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5" name="Google Shape;495;p15"/>
          <p:cNvSpPr/>
          <p:nvPr/>
        </p:nvSpPr>
        <p:spPr>
          <a:xfrm>
            <a:off x="4636008" y="150876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2E9E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6" name="Google Shape;496;p15"/>
          <p:cNvSpPr txBox="1"/>
          <p:nvPr/>
        </p:nvSpPr>
        <p:spPr>
          <a:xfrm>
            <a:off x="4681728" y="150876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 panose="020F0502020204030204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CLEAN DATA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5824728" y="1773936"/>
            <a:ext cx="201168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8" name="Google Shape;498;p15"/>
          <p:cNvSpPr/>
          <p:nvPr/>
        </p:nvSpPr>
        <p:spPr>
          <a:xfrm>
            <a:off x="6044184" y="150876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9" name="Google Shape;499;p15"/>
          <p:cNvSpPr txBox="1"/>
          <p:nvPr/>
        </p:nvSpPr>
        <p:spPr>
          <a:xfrm>
            <a:off x="6089904" y="150876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050"/>
              <a:buFont typeface="Calibri" panose="020F0502020204030204"/>
              <a:buNone/>
            </a:pPr>
            <a:r>
              <a:rPr lang="en-US" sz="1050" b="1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e-biciro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7232904" y="1773936"/>
            <a:ext cx="201168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1" name="Google Shape;501;p15"/>
          <p:cNvSpPr/>
          <p:nvPr/>
        </p:nvSpPr>
        <p:spPr>
          <a:xfrm>
            <a:off x="7452360" y="150876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2" name="Google Shape;502;p15"/>
          <p:cNvSpPr txBox="1"/>
          <p:nvPr/>
        </p:nvSpPr>
        <p:spPr>
          <a:xfrm>
            <a:off x="7498080" y="150876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050"/>
              <a:buFont typeface="Calibri" panose="020F0502020204030204"/>
              <a:buNone/>
            </a:pPr>
            <a:r>
              <a:rPr lang="en-US" sz="105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TRUSTED INFORMATION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3" name="Google Shape;503;p15"/>
          <p:cNvSpPr txBox="1"/>
          <p:nvPr/>
        </p:nvSpPr>
        <p:spPr>
          <a:xfrm>
            <a:off x="457200" y="251460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 panose="02040503050406030204"/>
              <a:buNone/>
            </a:pPr>
            <a:r>
              <a:rPr lang="en-US" sz="54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       </a:t>
            </a:r>
            <a:r>
              <a:rPr lang="en-US" sz="54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e-biciro</a:t>
            </a:r>
            <a:endParaRPr sz="5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4" name="Google Shape;504;p15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6D8"/>
              </a:buClr>
              <a:buSzPts val="1700"/>
              <a:buFont typeface="Calibri" panose="020F0502020204030204"/>
              <a:buNone/>
            </a:pPr>
            <a:r>
              <a:rPr lang="en-US" sz="1700" b="0" i="0" u="none" strike="noStrike" cap="none">
                <a:solidFill>
                  <a:srgbClr val="CFE6D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Turning agricultural data into trusted intelligence.</a:t>
            </a:r>
            <a:endParaRPr sz="17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1600210" y="4114738"/>
            <a:ext cx="1737300" cy="502800"/>
          </a:xfrm>
          <a:prstGeom prst="roundRect">
            <a:avLst>
              <a:gd name="adj" fmla="val 49091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6" name="Google Shape;506;p15"/>
          <p:cNvSpPr txBox="1"/>
          <p:nvPr/>
        </p:nvSpPr>
        <p:spPr>
          <a:xfrm>
            <a:off x="1472185" y="4114800"/>
            <a:ext cx="1737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500"/>
              <a:buFont typeface="Calibri" panose="020F0502020204030204"/>
              <a:buNone/>
            </a:pPr>
            <a:r>
              <a:rPr lang="en-US" sz="150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Thank You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3872155" y="4114688"/>
            <a:ext cx="1737300" cy="502800"/>
          </a:xfrm>
          <a:prstGeom prst="roundRect">
            <a:avLst>
              <a:gd name="adj" fmla="val 49091"/>
            </a:avLst>
          </a:prstGeom>
          <a:solidFill>
            <a:srgbClr val="0F3D2E"/>
          </a:solidFill>
          <a:ln w="25400" cap="flat" cmpd="sng">
            <a:solidFill>
              <a:srgbClr val="E8A3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8" name="Google Shape;508;p15">
            <a:hlinkClick r:id="rId1" tooltip="" action="ppaction://hlinkfile"/>
          </p:cNvPr>
          <p:cNvSpPr txBox="1"/>
          <p:nvPr/>
        </p:nvSpPr>
        <p:spPr>
          <a:xfrm>
            <a:off x="3923663" y="4114800"/>
            <a:ext cx="1737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 panose="020F0502020204030204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Live Demo</a:t>
            </a:r>
            <a:endParaRPr sz="1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09" name="Google Shape;509;p15" title="e-biciro-icon-dark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650003" y="2535575"/>
            <a:ext cx="826749" cy="82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 descr="Screenshot_20260930-154951~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2957195"/>
            <a:ext cx="1802130" cy="17659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"/>
          <p:cNvSpPr/>
          <p:nvPr/>
        </p:nvSpPr>
        <p:spPr>
          <a:xfrm>
            <a:off x="457200" y="292608"/>
            <a:ext cx="2029968" cy="246888"/>
          </a:xfrm>
          <a:prstGeom prst="roundRect">
            <a:avLst>
              <a:gd name="adj" fmla="val 48148"/>
            </a:avLst>
          </a:prstGeom>
          <a:solidFill>
            <a:srgbClr val="E3F3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9" name="Google Shape;289;p9"/>
          <p:cNvSpPr txBox="1"/>
          <p:nvPr/>
        </p:nvSpPr>
        <p:spPr>
          <a:xfrm>
            <a:off x="457200" y="292608"/>
            <a:ext cx="2029968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0F3D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VALIDATION RESULTS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3D2E"/>
              </a:buClr>
              <a:buSzPts val="2400"/>
              <a:buFont typeface="Cambria" panose="02040503050406030204"/>
              <a:buNone/>
            </a:pPr>
            <a:r>
              <a:rPr lang="en-US" sz="2400" b="1" i="0" u="none" strike="noStrike" cap="none">
                <a:solidFill>
                  <a:srgbClr val="0F3D2E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Measured Accuracy, With Its Limits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457200" y="1325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2" name="Google Shape;292;p9"/>
          <p:cNvSpPr txBox="1"/>
          <p:nvPr/>
        </p:nvSpPr>
        <p:spPr>
          <a:xfrm>
            <a:off x="640080" y="13716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2800"/>
              <a:buFont typeface="Cambria" panose="02040503050406030204"/>
              <a:buNone/>
            </a:pPr>
            <a:r>
              <a:rPr lang="en-US" sz="2800" b="1" i="0" u="none" strike="noStrike" cap="none">
                <a:solidFill>
                  <a:srgbClr val="12202B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1,096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640080" y="18745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00"/>
              <a:buFont typeface="Calibri" panose="020F0502020204030204"/>
              <a:buNone/>
            </a:pPr>
            <a:r>
              <a:rPr lang="en-US" sz="110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Rows in snapshot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2560320" y="1325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5" name="Google Shape;295;p9"/>
          <p:cNvSpPr txBox="1"/>
          <p:nvPr/>
        </p:nvSpPr>
        <p:spPr>
          <a:xfrm>
            <a:off x="2743200" y="13716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5B"/>
              </a:buClr>
              <a:buSzPts val="2800"/>
              <a:buFont typeface="Cambria" panose="02040503050406030204"/>
              <a:buNone/>
            </a:pPr>
            <a:r>
              <a:rPr lang="en-US" sz="2800" b="1" i="0" u="none" strike="noStrike" cap="none">
                <a:solidFill>
                  <a:srgbClr val="2E9E5B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96–100%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2743200" y="18745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00"/>
              <a:buFont typeface="Calibri" panose="020F0502020204030204"/>
              <a:buNone/>
            </a:pPr>
            <a:r>
              <a:rPr lang="en-US" sz="110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 checks together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4663440" y="1325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8" name="Google Shape;298;p9"/>
          <p:cNvSpPr txBox="1"/>
          <p:nvPr/>
        </p:nvSpPr>
        <p:spPr>
          <a:xfrm>
            <a:off x="4846320" y="13716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17"/>
              </a:buClr>
              <a:buSzPts val="2800"/>
              <a:buFont typeface="Cambria" panose="02040503050406030204"/>
              <a:buNone/>
            </a:pPr>
            <a:r>
              <a:rPr lang="en-US" sz="2800" b="1" i="0" u="none" strike="noStrike" cap="none">
                <a:solidFill>
                  <a:srgbClr val="E8A317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41–60%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4846320" y="18745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00"/>
              <a:buFont typeface="Calibri" panose="020F0502020204030204"/>
              <a:buNone/>
            </a:pPr>
            <a:r>
              <a:rPr lang="en-US" sz="110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Z-score alone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6766560" y="13258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>
            <a:solidFill>
              <a:srgbClr val="D5DF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1" name="Google Shape;301;p9"/>
          <p:cNvSpPr txBox="1"/>
          <p:nvPr/>
        </p:nvSpPr>
        <p:spPr>
          <a:xfrm>
            <a:off x="6949440" y="13716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2800"/>
              <a:buFont typeface="Cambria" panose="02040503050406030204"/>
              <a:buNone/>
            </a:pPr>
            <a:r>
              <a:rPr lang="en-US" sz="2800" b="1" i="0" u="none" strike="noStrike" cap="none">
                <a:solidFill>
                  <a:srgbClr val="D64545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5.6%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6949440" y="18745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100"/>
              <a:buFont typeface="Calibri" panose="020F0502020204030204"/>
              <a:buNone/>
            </a:pPr>
            <a:r>
              <a:rPr lang="en-US" sz="110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Clean rows flagged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303" name="Google Shape;303;p9"/>
          <p:cNvGraphicFramePr/>
          <p:nvPr/>
        </p:nvGraphicFramePr>
        <p:xfrm>
          <a:off x="457200" y="2514600"/>
          <a:ext cx="5120625" cy="1900000"/>
        </p:xfrm>
        <a:graphic>
          <a:graphicData uri="http://schemas.openxmlformats.org/drawingml/2006/table">
            <a:tbl>
              <a:tblPr>
                <a:noFill/>
                <a:tableStyleId>{C3295029-3D4F-4232-8B4D-4382A95926B5}</a:tableStyleId>
              </a:tblPr>
              <a:tblGrid>
                <a:gridCol w="1700000"/>
                <a:gridCol w="1100000"/>
                <a:gridCol w="1300000"/>
                <a:gridCol w="1020625"/>
              </a:tblGrid>
              <a:tr h="3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 panose="020F0502020204030204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Injected error</a:t>
                      </a:r>
                      <a:endParaRPr sz="11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 panose="020F0502020204030204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Z-score only</a:t>
                      </a:r>
                      <a:endParaRPr sz="11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 panose="020F0502020204030204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Isolation Forest</a:t>
                      </a:r>
                      <a:endParaRPr sz="11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 panose="020F0502020204030204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All checks</a:t>
                      </a:r>
                      <a:endParaRPr sz="11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202B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02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12202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Extra zero (×10)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02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12202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60%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02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12202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86.3%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5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2E9E5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100%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02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12202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Missing zero (÷10)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02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12202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53.8%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02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12202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77.5%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5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2E9E5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100%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02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12202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Price spike (+60%)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02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12202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46.3%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02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12202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56.3%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5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2E9E5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96.3%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02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12202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Ladder inversion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02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12202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41.3%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02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12202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66.3%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5B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2E9E5B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100%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DF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04" name="Google Shape;304;p9"/>
          <p:cNvSpPr txBox="1"/>
          <p:nvPr/>
        </p:nvSpPr>
        <p:spPr>
          <a:xfrm>
            <a:off x="5943600" y="2514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61"/>
              </a:buClr>
              <a:buSzPts val="1000"/>
              <a:buFont typeface="Calibri" panose="020F0502020204030204"/>
              <a:buNone/>
            </a:pPr>
            <a:r>
              <a:rPr lang="en-US" sz="1000" b="1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READ WITH CARE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5943600" y="2834640"/>
            <a:ext cx="2743200" cy="1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Clr>
                <a:srgbClr val="5B6B61"/>
              </a:buClr>
              <a:buSzPts val="1050"/>
              <a:buFont typeface="Calibri" panose="020F0502020204030204"/>
              <a:buNone/>
            </a:pPr>
            <a:r>
              <a:rPr lang="en-US" sz="105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Errors were injected into a real e-Soko snapshot from 2026-09-28 (8 rounds × 40 errors).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Clr>
                <a:srgbClr val="5B6B61"/>
              </a:buClr>
              <a:buSzPts val="1050"/>
              <a:buFont typeface="Calibri" panose="020F0502020204030204"/>
              <a:buNone/>
            </a:pPr>
            <a:r>
              <a:rPr lang="en-US" sz="105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Not yet tested on real historical mistakes.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Clr>
                <a:srgbClr val="5B6B61"/>
              </a:buClr>
              <a:buSzPts val="1050"/>
              <a:buFont typeface="Calibri" panose="020F0502020204030204"/>
              <a:buNone/>
            </a:pPr>
            <a:r>
              <a:rPr lang="en-US" sz="1050" b="0" i="0" u="none" strike="noStrike" cap="none">
                <a:solidFill>
                  <a:srgbClr val="5B6B6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One day of data. Results may differ on other periods and markets.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5943600" y="4297680"/>
            <a:ext cx="2743200" cy="246888"/>
          </a:xfrm>
          <a:prstGeom prst="roundRect">
            <a:avLst>
              <a:gd name="adj" fmla="val 48148"/>
            </a:avLst>
          </a:prstGeom>
          <a:solidFill>
            <a:srgbClr val="E8A3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0" name="Google Shape;310;p9"/>
          <p:cNvSpPr txBox="1"/>
          <p:nvPr/>
        </p:nvSpPr>
        <p:spPr>
          <a:xfrm>
            <a:off x="5943600" y="4297680"/>
            <a:ext cx="27432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900"/>
              <a:buFont typeface="Calibri" panose="020F0502020204030204"/>
              <a:buNone/>
            </a:pPr>
            <a:r>
              <a:rPr lang="en-US" sz="900" b="1" i="0" u="none" strike="noStrike" cap="none">
                <a:solidFill>
                  <a:srgbClr val="12202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SYNTHETIC ERRORS · ONE-DAY SNAPSHOT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11" name="Google Shape;311;p9" title="e-biciro-icon-dark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183878" y="83450"/>
            <a:ext cx="826749" cy="82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4378</Words>
  <Application>WPS Presentation</Application>
  <PresentationFormat/>
  <Paragraphs>477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Cambria</vt:lpstr>
      <vt:lpstr>Inter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PptxGenJS</dc:creator>
  <cp:lastModifiedBy>PC</cp:lastModifiedBy>
  <cp:revision>2</cp:revision>
  <dcterms:created xsi:type="dcterms:W3CDTF">2026-09-30T13:52:43Z</dcterms:created>
  <dcterms:modified xsi:type="dcterms:W3CDTF">2026-09-30T15:27:56Z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EFE4E39C2D974C1FA92ABEE11F6CA6F0_12</vt:lpwstr>
  </property>
</Properties>
</file>